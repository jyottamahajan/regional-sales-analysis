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29"/>
  </p:notesMasterIdLst>
  <p:sldIdLst>
    <p:sldId id="256" r:id="rId3"/>
    <p:sldId id="257" r:id="rId4"/>
    <p:sldId id="259" r:id="rId5"/>
    <p:sldId id="264" r:id="rId6"/>
    <p:sldId id="265" r:id="rId7"/>
    <p:sldId id="338" r:id="rId8"/>
    <p:sldId id="339" r:id="rId9"/>
    <p:sldId id="340" r:id="rId10"/>
    <p:sldId id="341" r:id="rId11"/>
    <p:sldId id="342" r:id="rId12"/>
    <p:sldId id="343" r:id="rId13"/>
    <p:sldId id="344" r:id="rId14"/>
    <p:sldId id="345" r:id="rId15"/>
    <p:sldId id="346" r:id="rId16"/>
    <p:sldId id="347" r:id="rId17"/>
    <p:sldId id="271" r:id="rId18"/>
    <p:sldId id="266" r:id="rId19"/>
    <p:sldId id="348" r:id="rId20"/>
    <p:sldId id="349" r:id="rId21"/>
    <p:sldId id="350" r:id="rId22"/>
    <p:sldId id="351" r:id="rId23"/>
    <p:sldId id="353" r:id="rId24"/>
    <p:sldId id="352" r:id="rId25"/>
    <p:sldId id="279" r:id="rId26"/>
    <p:sldId id="362" r:id="rId27"/>
    <p:sldId id="365" r:id="rId28"/>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Comic Sans MS" panose="030F0702030302020204" pitchFamily="66" charset="0"/>
      <p:regular r:id="rId34"/>
      <p:bold r:id="rId35"/>
      <p:italic r:id="rId36"/>
      <p:boldItalic r:id="rId37"/>
    </p:embeddedFont>
    <p:embeddedFont>
      <p:font typeface="Poppins" panose="020B0604020202020204" charset="0"/>
      <p:regular r:id="rId38"/>
      <p:bold r:id="rId39"/>
      <p:italic r:id="rId40"/>
      <p:boldItalic r:id="rId41"/>
    </p:embeddedFont>
    <p:embeddedFont>
      <p:font typeface="Source Sans Pro" panose="020B050303040302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0.fntdata"/><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font" Target="fonts/font13.fntdata"/><Relationship Id="rId104"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notesMaster" Target="notesMasters/notesMaster1.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10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4" Type="http://schemas.openxmlformats.org/officeDocument/2006/relationships/font" Target="fonts/font15.fntdata"/><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100"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53525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0431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581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8823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11027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850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65825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5426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5604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3198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0219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385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1060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04368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15a699482b_0_5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7" name="Google Shape;427;g215a699482b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1439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19803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g21194ee596e_0_1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16" name="Google Shape;16;g21194ee596e_0_119"/>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 name="Google Shape;17;g21194ee596e_0_119"/>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18" name="Google Shape;18;g21194ee596e_0_119"/>
          <p:cNvSpPr txBox="1"/>
          <p:nvPr/>
        </p:nvSpPr>
        <p:spPr>
          <a:xfrm>
            <a:off x="5060460" y="6306200"/>
            <a:ext cx="2071200" cy="1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g21194ee596e_0_14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21194ee596e_0_148"/>
          <p:cNvSpPr>
            <a:spLocks noGrp="1"/>
          </p:cNvSpPr>
          <p:nvPr>
            <p:ph type="pic" idx="2"/>
          </p:nvPr>
        </p:nvSpPr>
        <p:spPr>
          <a:xfrm>
            <a:off x="5183188" y="987425"/>
            <a:ext cx="6172200" cy="4873500"/>
          </a:xfrm>
          <a:prstGeom prst="rect">
            <a:avLst/>
          </a:prstGeom>
          <a:noFill/>
          <a:ln>
            <a:noFill/>
          </a:ln>
        </p:spPr>
      </p:sp>
      <p:sp>
        <p:nvSpPr>
          <p:cNvPr id="52" name="Google Shape;52;g21194ee596e_0_148"/>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3" name="Google Shape;53;g21194ee596e_0_14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g21194ee596e_0_14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g21194ee596e_0_14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79" name="Google Shape;79;p19"/>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0" name="Google Shape;80;p19"/>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9"/>
          <p:cNvSpPr txBox="1"/>
          <p:nvPr/>
        </p:nvSpPr>
        <p:spPr>
          <a:xfrm>
            <a:off x="5060460" y="6306200"/>
            <a:ext cx="2071080"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pic>
        <p:nvPicPr>
          <p:cNvPr id="138" name="Google Shape;138;g21194ee596e_0_101"/>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9" name="Google Shape;150;p2">
            <a:extLst>
              <a:ext uri="{FF2B5EF4-FFF2-40B4-BE49-F238E27FC236}">
                <a16:creationId xmlns:a16="http://schemas.microsoft.com/office/drawing/2014/main"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id="{B7CA4B9B-2858-4A36-B12E-2F96EC08DC32}"/>
              </a:ext>
            </a:extLst>
          </p:cNvPr>
          <p:cNvSpPr txBox="1"/>
          <p:nvPr/>
        </p:nvSpPr>
        <p:spPr>
          <a:xfrm>
            <a:off x="3596640" y="1972718"/>
            <a:ext cx="5379720" cy="1754326"/>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oppins" panose="020B0604020202020204" charset="0"/>
                <a:cs typeface="Poppins" panose="020B0604020202020204" charset="0"/>
              </a:rPr>
              <a:t>Regional Sales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oppins" panose="020B0604020202020204" charset="0"/>
                <a:cs typeface="Poppins" panose="020B0604020202020204" charset="0"/>
              </a:rPr>
              <a:t>Problem Statement</a:t>
            </a:r>
            <a:endParaRPr sz="2000"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panose="020B0604020202020204" charset="0"/>
                <a:ea typeface="Poppins"/>
                <a:cs typeface="Poppins" panose="020B0604020202020204" charset="0"/>
                <a:sym typeface="Poppins"/>
              </a:rPr>
              <a:t>Approach</a:t>
            </a:r>
            <a:endParaRPr sz="2000" i="0" u="none" strike="noStrike" cap="none"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Data Overview</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oppins"/>
                <a:ea typeface="Poppins"/>
                <a:cs typeface="Poppins"/>
                <a:sym typeface="Poppins"/>
              </a:rPr>
              <a:t>Project Workflow</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Exploratory Data Analysis</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Key Insights </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Recommendation</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Dashboard Preview</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pic>
        <p:nvPicPr>
          <p:cNvPr id="170" name="Google Shape;170;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1" name="Google Shape;171;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pic>
        <p:nvPicPr>
          <p:cNvPr id="174" name="Google Shape;174;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5" name="Google Shape;175;g21194ee596e_0_174"/>
          <p:cNvSpPr txBox="1"/>
          <p:nvPr/>
        </p:nvSpPr>
        <p:spPr>
          <a:xfrm>
            <a:off x="718370" y="4046180"/>
            <a:ext cx="10305230" cy="1846659"/>
          </a:xfrm>
          <a:prstGeom prst="rect">
            <a:avLst/>
          </a:prstGeom>
          <a:noFill/>
          <a:ln>
            <a:noFill/>
          </a:ln>
        </p:spPr>
        <p:txBody>
          <a:bodyPr spcFirstLastPara="1" wrap="square" lIns="0" tIns="0" rIns="0" bIns="0" anchor="t" anchorCtr="0">
            <a:spAutoFit/>
          </a:bodyPr>
          <a:lstStyle/>
          <a:p>
            <a:pPr marL="139700" marR="0" lvl="0" algn="l" rtl="0">
              <a:lnSpc>
                <a:spcPct val="150000"/>
              </a:lnSpc>
              <a:spcBef>
                <a:spcPts val="0"/>
              </a:spcBef>
              <a:spcAft>
                <a:spcPts val="0"/>
              </a:spcAft>
              <a:buClr>
                <a:schemeClr val="dk1"/>
              </a:buClr>
              <a:buSzPts val="1400"/>
            </a:pPr>
            <a:r>
              <a:rPr lang="en-GB" sz="1600" dirty="0">
                <a:effectLst/>
                <a:latin typeface="Poppins" panose="020B0604020202020204" charset="0"/>
                <a:cs typeface="Poppins" panose="020B0604020202020204" charset="0"/>
              </a:rPr>
              <a:t>Inconsistent revenue and profit performance across U.S. regions</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Lack of visibility into seasonal swings, top SKUs, and channel profitability</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Goal: Leverage 5 years of historical data to pinpoint growth levers and optimize strategy</a:t>
            </a:r>
            <a:endParaRPr sz="16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
        <p:nvSpPr>
          <p:cNvPr id="11" name="Google Shape;172;g21194ee596e_0_174">
            <a:extLst>
              <a:ext uri="{FF2B5EF4-FFF2-40B4-BE49-F238E27FC236}">
                <a16:creationId xmlns:a16="http://schemas.microsoft.com/office/drawing/2014/main" id="{8C5D04DA-9493-4639-B51F-7B0D3CD03EE2}"/>
              </a:ext>
            </a:extLst>
          </p:cNvPr>
          <p:cNvSpPr txBox="1">
            <a:spLocks/>
          </p:cNvSpPr>
          <p:nvPr/>
        </p:nvSpPr>
        <p:spPr>
          <a:xfrm>
            <a:off x="802640" y="3446518"/>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dirty="0">
                <a:effectLst/>
              </a:rPr>
              <a:t>What’s the Business Question?</a:t>
            </a:r>
            <a:endParaRPr lang="en-IN" sz="2400" b="0" dirty="0"/>
          </a:p>
        </p:txBody>
      </p:sp>
      <p:sp>
        <p:nvSpPr>
          <p:cNvPr id="2" name="Oval 1">
            <a:extLst>
              <a:ext uri="{FF2B5EF4-FFF2-40B4-BE49-F238E27FC236}">
                <a16:creationId xmlns:a16="http://schemas.microsoft.com/office/drawing/2014/main" id="{01E11A21-3B16-475C-9D2F-A65D1BA6D1EB}"/>
              </a:ext>
            </a:extLst>
          </p:cNvPr>
          <p:cNvSpPr/>
          <p:nvPr/>
        </p:nvSpPr>
        <p:spPr>
          <a:xfrm>
            <a:off x="531977" y="417364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5BC3889-2C67-4B20-B29F-006138D2D1DB}"/>
              </a:ext>
            </a:extLst>
          </p:cNvPr>
          <p:cNvSpPr/>
          <p:nvPr/>
        </p:nvSpPr>
        <p:spPr>
          <a:xfrm>
            <a:off x="520859" y="490389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B577B2B-77F8-416B-AA83-405D34D1834E}"/>
              </a:ext>
            </a:extLst>
          </p:cNvPr>
          <p:cNvSpPr/>
          <p:nvPr/>
        </p:nvSpPr>
        <p:spPr>
          <a:xfrm>
            <a:off x="531977" y="563414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512B818-0481-4D4B-A218-CFCC6EAC3762}"/>
              </a:ext>
            </a:extLst>
          </p:cNvPr>
          <p:cNvSpPr txBox="1"/>
          <p:nvPr/>
        </p:nvSpPr>
        <p:spPr>
          <a:xfrm>
            <a:off x="709780" y="1631126"/>
            <a:ext cx="10119360" cy="1200329"/>
          </a:xfrm>
          <a:prstGeom prst="rect">
            <a:avLst/>
          </a:prstGeom>
          <a:noFill/>
        </p:spPr>
        <p:txBody>
          <a:bodyPr wrap="square" rtlCol="0">
            <a:spAutoFit/>
          </a:bodyPr>
          <a:lstStyle/>
          <a:p>
            <a:r>
              <a:rPr lang="en-GB" sz="1800" dirty="0">
                <a:solidFill>
                  <a:schemeClr val="tx1">
                    <a:lumMod val="65000"/>
                    <a:lumOff val="35000"/>
                  </a:schemeClr>
                </a:solidFill>
                <a:latin typeface="Poppins" panose="020B0604020202020204" charset="0"/>
                <a:cs typeface="Poppins" panose="020B0604020202020204" charset="0"/>
              </a:rPr>
              <a:t>Sales teams often lack a clear, data-driven understanding of regional performance, making it difficult to identify growth opportunities and optimize resources. This project aims to analyse and visualize regional sales data to uncover trends, evaluate profitability, and support strategic decision-making.</a:t>
            </a:r>
            <a:endParaRPr lang="en-IN" sz="1800" dirty="0">
              <a:solidFill>
                <a:schemeClr val="tx1">
                  <a:lumMod val="65000"/>
                  <a:lumOff val="35000"/>
                </a:schemeClr>
              </a:solidFill>
              <a:latin typeface="Poppins" panose="020B0604020202020204" charset="0"/>
              <a:cs typeface="Poppins" panose="020B0604020202020204" charset="0"/>
            </a:endParaRPr>
          </a:p>
        </p:txBody>
      </p:sp>
      <p:sp>
        <p:nvSpPr>
          <p:cNvPr id="15" name="Google Shape;147;p2">
            <a:extLst>
              <a:ext uri="{FF2B5EF4-FFF2-40B4-BE49-F238E27FC236}">
                <a16:creationId xmlns:a16="http://schemas.microsoft.com/office/drawing/2014/main" id="{2BCC2704-FC24-43ED-A750-E2F92EF60F12}"/>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Problem Statement</a:t>
            </a:r>
            <a:endParaRPr lang="en-US" sz="3200" dirty="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Charts &amp; Insights</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463643" y="4922754"/>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Consistent sales cycle: $24M to $26M.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Seasonal peaks: Late spring/early summer (May-June).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Annual low: January.</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Notable outlier: Sharp revenue drop in early 2017.</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257" name="Google Shape;257;g21197e7cf6e_0_97"/>
          <p:cNvSpPr txBox="1">
            <a:spLocks noGrp="1"/>
          </p:cNvSpPr>
          <p:nvPr>
            <p:ph type="title"/>
          </p:nvPr>
        </p:nvSpPr>
        <p:spPr>
          <a:xfrm>
            <a:off x="291102" y="361419"/>
            <a:ext cx="7190196" cy="492443"/>
          </a:xfrm>
          <a:prstGeom prst="rect">
            <a:avLst/>
          </a:prstGeom>
          <a:solidFill>
            <a:srgbClr val="FFFFFF"/>
          </a:solid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GB" sz="3200" b="0" dirty="0">
                <a:solidFill>
                  <a:schemeClr val="tx1">
                    <a:lumMod val="75000"/>
                    <a:lumOff val="25000"/>
                  </a:schemeClr>
                </a:solidFill>
                <a:effectLst/>
              </a:rPr>
              <a:t>Monthly Sales Trend Over Time</a:t>
            </a:r>
            <a:endParaRPr sz="3200" b="0" dirty="0">
              <a:solidFill>
                <a:schemeClr val="tx1">
                  <a:lumMod val="75000"/>
                  <a:lumOff val="25000"/>
                </a:schemeClr>
              </a:solidFill>
            </a:endParaRPr>
          </a:p>
        </p:txBody>
      </p:sp>
      <p:pic>
        <p:nvPicPr>
          <p:cNvPr id="3" name="Picture 2">
            <a:extLst>
              <a:ext uri="{FF2B5EF4-FFF2-40B4-BE49-F238E27FC236}">
                <a16:creationId xmlns:a16="http://schemas.microsoft.com/office/drawing/2014/main" id="{7084071A-DC69-4E5A-BB16-144972025E31}"/>
              </a:ext>
            </a:extLst>
          </p:cNvPr>
          <p:cNvPicPr>
            <a:picLocks noChangeAspect="1"/>
          </p:cNvPicPr>
          <p:nvPr/>
        </p:nvPicPr>
        <p:blipFill>
          <a:blip r:embed="rId3"/>
          <a:stretch>
            <a:fillRect/>
          </a:stretch>
        </p:blipFill>
        <p:spPr>
          <a:xfrm>
            <a:off x="1463643" y="1282858"/>
            <a:ext cx="8079175" cy="3274347"/>
          </a:xfrm>
          <a:prstGeom prst="rect">
            <a:avLst/>
          </a:prstGeom>
        </p:spPr>
      </p:pic>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4" name="Group 13">
            <a:extLst>
              <a:ext uri="{FF2B5EF4-FFF2-40B4-BE49-F238E27FC236}">
                <a16:creationId xmlns:a16="http://schemas.microsoft.com/office/drawing/2014/main" id="{0BFA7B0C-328D-4EDB-A17C-F54FE47FDD86}"/>
              </a:ext>
            </a:extLst>
          </p:cNvPr>
          <p:cNvGrpSpPr/>
          <p:nvPr/>
        </p:nvGrpSpPr>
        <p:grpSpPr>
          <a:xfrm>
            <a:off x="868601" y="4782662"/>
            <a:ext cx="1799684" cy="520496"/>
            <a:chOff x="4990288" y="1782720"/>
            <a:chExt cx="1799684" cy="520496"/>
          </a:xfrm>
        </p:grpSpPr>
        <p:pic>
          <p:nvPicPr>
            <p:cNvPr id="15" name="Picture 14">
              <a:extLst>
                <a:ext uri="{FF2B5EF4-FFF2-40B4-BE49-F238E27FC236}">
                  <a16:creationId xmlns:a16="http://schemas.microsoft.com/office/drawing/2014/main" id="{8F670F79-D2A8-476E-BD77-4EA32B290AB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6" name="TextBox 15">
              <a:extLst>
                <a:ext uri="{FF2B5EF4-FFF2-40B4-BE49-F238E27FC236}">
                  <a16:creationId xmlns:a16="http://schemas.microsoft.com/office/drawing/2014/main" id="{A3B312F8-AD4E-499D-B00F-38B7B90C600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531462" y="5291847"/>
            <a:ext cx="6535578" cy="1197475"/>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leaders: Products 26 &amp; 25 dominate.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Mid-range: Products 5, 13, 14, 15 show similar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cluster: Products 1, 2, 3, 4 have the lowest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Strategy: Grow mid-tier, improve lower performers.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427EBEB1-F87B-4151-8638-E9EE6EBF4290}"/>
              </a:ext>
            </a:extLst>
          </p:cNvPr>
          <p:cNvPicPr>
            <a:picLocks noChangeAspect="1"/>
          </p:cNvPicPr>
          <p:nvPr/>
        </p:nvPicPr>
        <p:blipFill>
          <a:blip r:embed="rId3"/>
          <a:stretch>
            <a:fillRect/>
          </a:stretch>
        </p:blipFill>
        <p:spPr>
          <a:xfrm>
            <a:off x="1531462" y="1224836"/>
            <a:ext cx="8687553" cy="3596952"/>
          </a:xfrm>
          <a:prstGeom prst="rect">
            <a:avLst/>
          </a:prstGeom>
        </p:spPr>
      </p:pic>
      <p:grpSp>
        <p:nvGrpSpPr>
          <p:cNvPr id="10" name="Group 9">
            <a:extLst>
              <a:ext uri="{FF2B5EF4-FFF2-40B4-BE49-F238E27FC236}">
                <a16:creationId xmlns:a16="http://schemas.microsoft.com/office/drawing/2014/main" id="{6C4A5420-8C8C-4F8F-B704-5EE5DDE8C14D}"/>
              </a:ext>
            </a:extLst>
          </p:cNvPr>
          <p:cNvGrpSpPr/>
          <p:nvPr/>
        </p:nvGrpSpPr>
        <p:grpSpPr>
          <a:xfrm>
            <a:off x="1058368" y="4821788"/>
            <a:ext cx="1799684" cy="520496"/>
            <a:chOff x="4990288" y="1782720"/>
            <a:chExt cx="1799684" cy="520496"/>
          </a:xfrm>
        </p:grpSpPr>
        <p:pic>
          <p:nvPicPr>
            <p:cNvPr id="11" name="Picture 10">
              <a:extLst>
                <a:ext uri="{FF2B5EF4-FFF2-40B4-BE49-F238E27FC236}">
                  <a16:creationId xmlns:a16="http://schemas.microsoft.com/office/drawing/2014/main" id="{952E8B6A-003E-4213-8DB4-5E70B6781E7D}"/>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E85487F4-40E9-4739-9FE1-7936AE5A2DA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72C13FB2-91D7-42CC-9316-95D8F3B6DDDA}"/>
              </a:ext>
            </a:extLst>
          </p:cNvPr>
          <p:cNvSpPr txBox="1">
            <a:spLocks noGrp="1"/>
          </p:cNvSpPr>
          <p:nvPr>
            <p:ph type="title"/>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p>
            <a:r>
              <a:rPr lang="en-GB" sz="3200" b="0" dirty="0">
                <a:solidFill>
                  <a:schemeClr val="tx1">
                    <a:lumMod val="75000"/>
                    <a:lumOff val="25000"/>
                  </a:schemeClr>
                </a:solidFill>
                <a:effectLst/>
              </a:rPr>
              <a:t>Top 10 Products by Revenue</a:t>
            </a:r>
            <a:endParaRPr lang="en-GB" sz="3200" b="0" dirty="0">
              <a:solidFill>
                <a:schemeClr val="tx1">
                  <a:lumMod val="75000"/>
                  <a:lumOff val="25000"/>
                </a:schemeClr>
              </a:solidFill>
            </a:endParaRPr>
          </a:p>
        </p:txBody>
      </p:sp>
    </p:spTree>
    <p:extLst>
      <p:ext uri="{BB962C8B-B14F-4D97-AF65-F5344CB8AC3E}">
        <p14:creationId xmlns:p14="http://schemas.microsoft.com/office/powerpoint/2010/main" val="1635480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D32C3C71-EB36-4C49-B4BF-0C00E1AB4CAB}"/>
              </a:ext>
            </a:extLst>
          </p:cNvPr>
          <p:cNvPicPr>
            <a:picLocks noChangeAspect="1"/>
          </p:cNvPicPr>
          <p:nvPr/>
        </p:nvPicPr>
        <p:blipFill>
          <a:blip r:embed="rId3"/>
          <a:srcRect/>
          <a:stretch/>
        </p:blipFill>
        <p:spPr>
          <a:xfrm>
            <a:off x="1809378" y="1231056"/>
            <a:ext cx="8573243" cy="3685587"/>
          </a:xfrm>
          <a:prstGeom prst="rect">
            <a:avLst/>
          </a:prstGeom>
        </p:spPr>
      </p:pic>
      <p:sp>
        <p:nvSpPr>
          <p:cNvPr id="10" name="Google Shape;249;g21197e7cf6e_0_97">
            <a:extLst>
              <a:ext uri="{FF2B5EF4-FFF2-40B4-BE49-F238E27FC236}">
                <a16:creationId xmlns:a16="http://schemas.microsoft.com/office/drawing/2014/main" id="{57BB1715-3ADB-4068-9B75-EBCA1DB2EA7B}"/>
              </a:ext>
            </a:extLst>
          </p:cNvPr>
          <p:cNvSpPr/>
          <p:nvPr/>
        </p:nvSpPr>
        <p:spPr>
          <a:xfrm>
            <a:off x="1809378" y="5260845"/>
            <a:ext cx="8851159" cy="1292752"/>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Takeaway: Top 10 all exceed $7.3K—consistent high margins.</a:t>
            </a:r>
          </a:p>
        </p:txBody>
      </p:sp>
      <p:grpSp>
        <p:nvGrpSpPr>
          <p:cNvPr id="11" name="Group 10">
            <a:extLst>
              <a:ext uri="{FF2B5EF4-FFF2-40B4-BE49-F238E27FC236}">
                <a16:creationId xmlns:a16="http://schemas.microsoft.com/office/drawing/2014/main" id="{B20E552C-11EE-4342-A082-27C9FCCA2AAB}"/>
              </a:ext>
            </a:extLst>
          </p:cNvPr>
          <p:cNvGrpSpPr/>
          <p:nvPr/>
        </p:nvGrpSpPr>
        <p:grpSpPr>
          <a:xfrm>
            <a:off x="1281888" y="4805223"/>
            <a:ext cx="1766112" cy="520496"/>
            <a:chOff x="4990288" y="1782720"/>
            <a:chExt cx="1799684" cy="520496"/>
          </a:xfrm>
        </p:grpSpPr>
        <p:pic>
          <p:nvPicPr>
            <p:cNvPr id="12" name="Picture 11">
              <a:extLst>
                <a:ext uri="{FF2B5EF4-FFF2-40B4-BE49-F238E27FC236}">
                  <a16:creationId xmlns:a16="http://schemas.microsoft.com/office/drawing/2014/main" id="{B0BD83AB-F894-4738-A6D1-2BC07DD393B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E4E577FF-B6E4-4310-85D7-17A077CCBC83}"/>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533FE142-A9BF-4047-853C-12E359056733}"/>
              </a:ext>
            </a:extLst>
          </p:cNvPr>
          <p:cNvSpPr txBox="1">
            <a:spLocks/>
          </p:cNvSpPr>
          <p:nvPr/>
        </p:nvSpPr>
        <p:spPr>
          <a:xfrm>
            <a:off x="291102" y="361419"/>
            <a:ext cx="857324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10 Products by Average Profit Margin</a:t>
            </a:r>
          </a:p>
        </p:txBody>
      </p:sp>
    </p:spTree>
    <p:extLst>
      <p:ext uri="{BB962C8B-B14F-4D97-AF65-F5344CB8AC3E}">
        <p14:creationId xmlns:p14="http://schemas.microsoft.com/office/powerpoint/2010/main" val="2342008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Wholesale dominates: Generates the majority of total sales at 54.1%.</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Distributor is significant: Contributes a substantial 31.3% to total sales.</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Export is a smaller portion: Accounts for 14.6% of the total sales.</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C3277D3-4E46-4752-87EE-C557D939AAE3}"/>
              </a:ext>
            </a:extLst>
          </p:cNvPr>
          <p:cNvPicPr>
            <a:picLocks noChangeAspect="1"/>
          </p:cNvPicPr>
          <p:nvPr/>
        </p:nvPicPr>
        <p:blipFill>
          <a:blip r:embed="rId3"/>
          <a:stretch>
            <a:fillRect/>
          </a:stretch>
        </p:blipFill>
        <p:spPr>
          <a:xfrm>
            <a:off x="1100202" y="1782720"/>
            <a:ext cx="3607984" cy="3495323"/>
          </a:xfrm>
          <a:prstGeom prst="rect">
            <a:avLst/>
          </a:prstGeom>
        </p:spPr>
      </p:pic>
      <p:sp>
        <p:nvSpPr>
          <p:cNvPr id="6" name="Rectangle 5">
            <a:extLst>
              <a:ext uri="{FF2B5EF4-FFF2-40B4-BE49-F238E27FC236}">
                <a16:creationId xmlns:a16="http://schemas.microsoft.com/office/drawing/2014/main" id="{60D155AF-041D-43B8-9DCA-E39F052B3129}"/>
              </a:ext>
            </a:extLst>
          </p:cNvPr>
          <p:cNvSpPr/>
          <p:nvPr/>
        </p:nvSpPr>
        <p:spPr>
          <a:xfrm>
            <a:off x="4941651" y="6089515"/>
            <a:ext cx="2558375" cy="602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75A32C24-E9EC-4693-9074-693E478F1E3A}"/>
              </a:ext>
            </a:extLst>
          </p:cNvPr>
          <p:cNvGrpSpPr/>
          <p:nvPr/>
        </p:nvGrpSpPr>
        <p:grpSpPr>
          <a:xfrm>
            <a:off x="4990288" y="1782720"/>
            <a:ext cx="1799684" cy="520496"/>
            <a:chOff x="4990288" y="1782720"/>
            <a:chExt cx="1799684" cy="520496"/>
          </a:xfrm>
        </p:grpSpPr>
        <p:pic>
          <p:nvPicPr>
            <p:cNvPr id="11" name="Picture 10">
              <a:extLst>
                <a:ext uri="{FF2B5EF4-FFF2-40B4-BE49-F238E27FC236}">
                  <a16:creationId xmlns:a16="http://schemas.microsoft.com/office/drawing/2014/main" id="{9ABDAD06-6C59-43E4-AAB3-6AC01203165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7" name="TextBox 6">
              <a:extLst>
                <a:ext uri="{FF2B5EF4-FFF2-40B4-BE49-F238E27FC236}">
                  <a16:creationId xmlns:a16="http://schemas.microsoft.com/office/drawing/2014/main" id="{B1B59B4E-EA7A-4C3D-9847-3CC57FA9A9E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D5F37530-F693-4DEA-9195-52EBC3A2DFE9}"/>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Sales by Channel</a:t>
            </a:r>
          </a:p>
        </p:txBody>
      </p:sp>
    </p:spTree>
    <p:extLst>
      <p:ext uri="{BB962C8B-B14F-4D97-AF65-F5344CB8AC3E}">
        <p14:creationId xmlns:p14="http://schemas.microsoft.com/office/powerpoint/2010/main" val="1637791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leads: Highest total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Texas, Florida, Illinois: Significant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Varying sales: Other states show moderate to low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Visual pattern: Higher sales in larger and some coastal states.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F019706A-0C71-44DD-B7D5-B0FFD71ECD97}"/>
              </a:ext>
            </a:extLst>
          </p:cNvPr>
          <p:cNvPicPr>
            <a:picLocks noChangeAspect="1"/>
          </p:cNvPicPr>
          <p:nvPr/>
        </p:nvPicPr>
        <p:blipFill>
          <a:blip r:embed="rId3"/>
          <a:stretch>
            <a:fillRect/>
          </a:stretch>
        </p:blipFill>
        <p:spPr>
          <a:xfrm>
            <a:off x="1835244" y="1039518"/>
            <a:ext cx="5582715" cy="3491375"/>
          </a:xfrm>
          <a:prstGeom prst="rect">
            <a:avLst/>
          </a:prstGeom>
        </p:spPr>
      </p:pic>
      <p:pic>
        <p:nvPicPr>
          <p:cNvPr id="7" name="Picture 6">
            <a:extLst>
              <a:ext uri="{FF2B5EF4-FFF2-40B4-BE49-F238E27FC236}">
                <a16:creationId xmlns:a16="http://schemas.microsoft.com/office/drawing/2014/main" id="{A0FEEE11-F6B1-4A79-B0CD-00E13E4CBCFE}"/>
              </a:ext>
            </a:extLst>
          </p:cNvPr>
          <p:cNvPicPr>
            <a:picLocks noChangeAspect="1"/>
          </p:cNvPicPr>
          <p:nvPr/>
        </p:nvPicPr>
        <p:blipFill>
          <a:blip r:embed="rId4"/>
          <a:stretch>
            <a:fillRect/>
          </a:stretch>
        </p:blipFill>
        <p:spPr>
          <a:xfrm>
            <a:off x="8064998" y="1039518"/>
            <a:ext cx="869101" cy="3580941"/>
          </a:xfrm>
          <a:prstGeom prst="rect">
            <a:avLst/>
          </a:prstGeom>
        </p:spPr>
      </p:pic>
      <p:grpSp>
        <p:nvGrpSpPr>
          <p:cNvPr id="12" name="Group 11">
            <a:extLst>
              <a:ext uri="{FF2B5EF4-FFF2-40B4-BE49-F238E27FC236}">
                <a16:creationId xmlns:a16="http://schemas.microsoft.com/office/drawing/2014/main" id="{FB529DE5-AD5B-4A7E-ACA0-E8C1B4F5D534}"/>
              </a:ext>
            </a:extLst>
          </p:cNvPr>
          <p:cNvGrpSpPr/>
          <p:nvPr/>
        </p:nvGrpSpPr>
        <p:grpSpPr>
          <a:xfrm>
            <a:off x="1314748" y="4815847"/>
            <a:ext cx="1799684" cy="520496"/>
            <a:chOff x="4990288" y="1782720"/>
            <a:chExt cx="1799684" cy="520496"/>
          </a:xfrm>
        </p:grpSpPr>
        <p:pic>
          <p:nvPicPr>
            <p:cNvPr id="13" name="Picture 12">
              <a:extLst>
                <a:ext uri="{FF2B5EF4-FFF2-40B4-BE49-F238E27FC236}">
                  <a16:creationId xmlns:a16="http://schemas.microsoft.com/office/drawing/2014/main" id="{4811A562-8C23-4D3F-8084-9B45B155E9CB}"/>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4" name="TextBox 13">
              <a:extLst>
                <a:ext uri="{FF2B5EF4-FFF2-40B4-BE49-F238E27FC236}">
                  <a16:creationId xmlns:a16="http://schemas.microsoft.com/office/drawing/2014/main" id="{7D84E2AC-8429-4100-ABE2-2D72B51BE836}"/>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5" name="Google Shape;257;g21197e7cf6e_0_97">
            <a:extLst>
              <a:ext uri="{FF2B5EF4-FFF2-40B4-BE49-F238E27FC236}">
                <a16:creationId xmlns:a16="http://schemas.microsoft.com/office/drawing/2014/main" id="{DC1D2DAE-D83F-41B3-BA9B-429DF6D664CC}"/>
              </a:ext>
            </a:extLst>
          </p:cNvPr>
          <p:cNvSpPr txBox="1">
            <a:spLocks/>
          </p:cNvSpPr>
          <p:nvPr/>
        </p:nvSpPr>
        <p:spPr>
          <a:xfrm>
            <a:off x="291102" y="361419"/>
            <a:ext cx="80455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State (Choropleth Map)</a:t>
            </a:r>
          </a:p>
        </p:txBody>
      </p:sp>
    </p:spTree>
    <p:extLst>
      <p:ext uri="{BB962C8B-B14F-4D97-AF65-F5344CB8AC3E}">
        <p14:creationId xmlns:p14="http://schemas.microsoft.com/office/powerpoint/2010/main" val="3710022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4513634"/>
            <a:ext cx="8588483" cy="205387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Northeast: Lowest sales, suggests need for deeper market understanding.</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943C40B-F027-4F5F-8ECF-7B0EA7D2E5A7}"/>
              </a:ext>
            </a:extLst>
          </p:cNvPr>
          <p:cNvPicPr>
            <a:picLocks noChangeAspect="1"/>
          </p:cNvPicPr>
          <p:nvPr/>
        </p:nvPicPr>
        <p:blipFill>
          <a:blip r:embed="rId3"/>
          <a:stretch>
            <a:fillRect/>
          </a:stretch>
        </p:blipFill>
        <p:spPr>
          <a:xfrm>
            <a:off x="462995" y="1349268"/>
            <a:ext cx="8588484" cy="2758679"/>
          </a:xfrm>
          <a:prstGeom prst="rect">
            <a:avLst/>
          </a:prstGeom>
        </p:spPr>
      </p:pic>
      <p:grpSp>
        <p:nvGrpSpPr>
          <p:cNvPr id="11" name="Group 10">
            <a:extLst>
              <a:ext uri="{FF2B5EF4-FFF2-40B4-BE49-F238E27FC236}">
                <a16:creationId xmlns:a16="http://schemas.microsoft.com/office/drawing/2014/main" id="{63B97E8D-6AB6-47D6-B7BE-022EAFDCB715}"/>
              </a:ext>
            </a:extLst>
          </p:cNvPr>
          <p:cNvGrpSpPr/>
          <p:nvPr/>
        </p:nvGrpSpPr>
        <p:grpSpPr>
          <a:xfrm>
            <a:off x="1139648" y="4426329"/>
            <a:ext cx="1799684" cy="520496"/>
            <a:chOff x="4990288" y="1782720"/>
            <a:chExt cx="1799684" cy="520496"/>
          </a:xfrm>
        </p:grpSpPr>
        <p:pic>
          <p:nvPicPr>
            <p:cNvPr id="12" name="Picture 11">
              <a:extLst>
                <a:ext uri="{FF2B5EF4-FFF2-40B4-BE49-F238E27FC236}">
                  <a16:creationId xmlns:a16="http://schemas.microsoft.com/office/drawing/2014/main" id="{2AE2EE14-4869-439A-95FA-38CFD24206CA}"/>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478E7F2E-8BD3-4E70-9CD7-9C1A3255C0C0}"/>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A6A7C502-D0D1-4F88-90F1-186C62EBA5B2}"/>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US Region</a:t>
            </a:r>
          </a:p>
        </p:txBody>
      </p:sp>
    </p:spTree>
    <p:extLst>
      <p:ext uri="{BB962C8B-B14F-4D97-AF65-F5344CB8AC3E}">
        <p14:creationId xmlns:p14="http://schemas.microsoft.com/office/powerpoint/2010/main" val="641396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80163" y="4867034"/>
            <a:ext cx="8012558" cy="1825163"/>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Higher order values are less common.</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B8EE0F30-EC03-4ED5-9E9A-ADB8CB5AD6D6}"/>
              </a:ext>
            </a:extLst>
          </p:cNvPr>
          <p:cNvPicPr>
            <a:picLocks noChangeAspect="1"/>
          </p:cNvPicPr>
          <p:nvPr/>
        </p:nvPicPr>
        <p:blipFill>
          <a:blip r:embed="rId3"/>
          <a:stretch>
            <a:fillRect/>
          </a:stretch>
        </p:blipFill>
        <p:spPr>
          <a:xfrm>
            <a:off x="543095" y="1346776"/>
            <a:ext cx="9378145" cy="3103154"/>
          </a:xfrm>
          <a:prstGeom prst="rect">
            <a:avLst/>
          </a:prstGeom>
        </p:spPr>
      </p:pic>
      <p:grpSp>
        <p:nvGrpSpPr>
          <p:cNvPr id="10" name="Group 9">
            <a:extLst>
              <a:ext uri="{FF2B5EF4-FFF2-40B4-BE49-F238E27FC236}">
                <a16:creationId xmlns:a16="http://schemas.microsoft.com/office/drawing/2014/main" id="{4950C65A-5879-4F24-90B5-64366282F28B}"/>
              </a:ext>
            </a:extLst>
          </p:cNvPr>
          <p:cNvGrpSpPr/>
          <p:nvPr/>
        </p:nvGrpSpPr>
        <p:grpSpPr>
          <a:xfrm>
            <a:off x="1210768" y="4449930"/>
            <a:ext cx="1799684" cy="520496"/>
            <a:chOff x="4990288" y="1782720"/>
            <a:chExt cx="1799684" cy="520496"/>
          </a:xfrm>
        </p:grpSpPr>
        <p:pic>
          <p:nvPicPr>
            <p:cNvPr id="11" name="Picture 10">
              <a:extLst>
                <a:ext uri="{FF2B5EF4-FFF2-40B4-BE49-F238E27FC236}">
                  <a16:creationId xmlns:a16="http://schemas.microsoft.com/office/drawing/2014/main" id="{7F378D8A-AA79-4779-ABD5-0E33DF2044A1}"/>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AD355348-2153-4E05-AB5A-3DD90DEBF1A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Google Shape;257;g21197e7cf6e_0_97">
            <a:extLst>
              <a:ext uri="{FF2B5EF4-FFF2-40B4-BE49-F238E27FC236}">
                <a16:creationId xmlns:a16="http://schemas.microsoft.com/office/drawing/2014/main" id="{B141D559-8CD7-4408-B94F-8E88E2EC2263}"/>
              </a:ext>
            </a:extLst>
          </p:cNvPr>
          <p:cNvSpPr txBox="1">
            <a:spLocks/>
          </p:cNvSpPr>
          <p:nvPr/>
        </p:nvSpPr>
        <p:spPr>
          <a:xfrm>
            <a:off x="291102" y="361419"/>
            <a:ext cx="8055230"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Average Order Value (AOV) Distribution</a:t>
            </a:r>
          </a:p>
        </p:txBody>
      </p:sp>
    </p:spTree>
    <p:extLst>
      <p:ext uri="{BB962C8B-B14F-4D97-AF65-F5344CB8AC3E}">
        <p14:creationId xmlns:p14="http://schemas.microsoft.com/office/powerpoint/2010/main" val="478440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3906127" y="4773364"/>
            <a:ext cx="5053047" cy="1788548"/>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tops revenue &amp; orders.</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IL, FL, TX: High in both.</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orders linked.</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Other top states: Lower contribution.</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extLst>
              <a:ext uri="{FF2B5EF4-FFF2-40B4-BE49-F238E27FC236}">
                <a16:creationId xmlns:a16="http://schemas.microsoft.com/office/drawing/2014/main" id="{47056D5B-1778-4561-9D36-03824E06DDF8}"/>
              </a:ext>
            </a:extLst>
          </p:cNvPr>
          <p:cNvPicPr>
            <a:picLocks noChangeAspect="1"/>
          </p:cNvPicPr>
          <p:nvPr/>
        </p:nvPicPr>
        <p:blipFill>
          <a:blip r:embed="rId3"/>
          <a:stretch>
            <a:fillRect/>
          </a:stretch>
        </p:blipFill>
        <p:spPr>
          <a:xfrm>
            <a:off x="0" y="1486677"/>
            <a:ext cx="5937425" cy="2780523"/>
          </a:xfrm>
          <a:prstGeom prst="rect">
            <a:avLst/>
          </a:prstGeom>
        </p:spPr>
      </p:pic>
      <p:pic>
        <p:nvPicPr>
          <p:cNvPr id="11" name="Picture 10">
            <a:extLst>
              <a:ext uri="{FF2B5EF4-FFF2-40B4-BE49-F238E27FC236}">
                <a16:creationId xmlns:a16="http://schemas.microsoft.com/office/drawing/2014/main" id="{F4442AF9-F0AB-426C-8214-7FC6B1823151}"/>
              </a:ext>
            </a:extLst>
          </p:cNvPr>
          <p:cNvPicPr>
            <a:picLocks noChangeAspect="1"/>
          </p:cNvPicPr>
          <p:nvPr/>
        </p:nvPicPr>
        <p:blipFill>
          <a:blip r:embed="rId4"/>
          <a:stretch>
            <a:fillRect/>
          </a:stretch>
        </p:blipFill>
        <p:spPr>
          <a:xfrm>
            <a:off x="6255600" y="1427876"/>
            <a:ext cx="5936400" cy="2839324"/>
          </a:xfrm>
          <a:prstGeom prst="rect">
            <a:avLst/>
          </a:prstGeom>
        </p:spPr>
      </p:pic>
      <p:grpSp>
        <p:nvGrpSpPr>
          <p:cNvPr id="16" name="Group 15">
            <a:extLst>
              <a:ext uri="{FF2B5EF4-FFF2-40B4-BE49-F238E27FC236}">
                <a16:creationId xmlns:a16="http://schemas.microsoft.com/office/drawing/2014/main" id="{BCD832DA-6837-43BD-BCA8-DC3C64AEA851}"/>
              </a:ext>
            </a:extLst>
          </p:cNvPr>
          <p:cNvGrpSpPr/>
          <p:nvPr/>
        </p:nvGrpSpPr>
        <p:grpSpPr>
          <a:xfrm>
            <a:off x="2301063" y="4647840"/>
            <a:ext cx="1799684" cy="520496"/>
            <a:chOff x="4990288" y="1782720"/>
            <a:chExt cx="1799684" cy="520496"/>
          </a:xfrm>
        </p:grpSpPr>
        <p:pic>
          <p:nvPicPr>
            <p:cNvPr id="17" name="Picture 16">
              <a:extLst>
                <a:ext uri="{FF2B5EF4-FFF2-40B4-BE49-F238E27FC236}">
                  <a16:creationId xmlns:a16="http://schemas.microsoft.com/office/drawing/2014/main" id="{27227694-6406-4F94-AE9A-63F102BD4FCF}"/>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8" name="TextBox 17">
              <a:extLst>
                <a:ext uri="{FF2B5EF4-FFF2-40B4-BE49-F238E27FC236}">
                  <a16:creationId xmlns:a16="http://schemas.microsoft.com/office/drawing/2014/main" id="{9FB709D9-5EFD-427F-93EB-E673E405FB1D}"/>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6E04CD2A-9940-40FB-B232-1212B8ECF12B}"/>
              </a:ext>
            </a:extLst>
          </p:cNvPr>
          <p:cNvSpPr txBox="1">
            <a:spLocks/>
          </p:cNvSpPr>
          <p:nvPr/>
        </p:nvSpPr>
        <p:spPr>
          <a:xfrm>
            <a:off x="291102" y="361419"/>
            <a:ext cx="901826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State Performance: Revenue vs. Orders</a:t>
            </a:r>
          </a:p>
        </p:txBody>
      </p:sp>
    </p:spTree>
    <p:extLst>
      <p:ext uri="{BB962C8B-B14F-4D97-AF65-F5344CB8AC3E}">
        <p14:creationId xmlns:p14="http://schemas.microsoft.com/office/powerpoint/2010/main" val="765688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9231548"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Aibox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Large gap: Exists between the revenue of top and bottom tier customers.</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34210F9D-79F3-4B8A-AC76-796B0F602BC6}"/>
              </a:ext>
            </a:extLst>
          </p:cNvPr>
          <p:cNvPicPr>
            <a:picLocks noChangeAspect="1"/>
          </p:cNvPicPr>
          <p:nvPr/>
        </p:nvPicPr>
        <p:blipFill>
          <a:blip r:embed="rId3"/>
          <a:stretch>
            <a:fillRect/>
          </a:stretch>
        </p:blipFill>
        <p:spPr>
          <a:xfrm>
            <a:off x="249572" y="1317606"/>
            <a:ext cx="11421318" cy="3415129"/>
          </a:xfrm>
          <a:prstGeom prst="rect">
            <a:avLst/>
          </a:prstGeom>
        </p:spPr>
      </p:pic>
      <p:grpSp>
        <p:nvGrpSpPr>
          <p:cNvPr id="15" name="Group 14">
            <a:extLst>
              <a:ext uri="{FF2B5EF4-FFF2-40B4-BE49-F238E27FC236}">
                <a16:creationId xmlns:a16="http://schemas.microsoft.com/office/drawing/2014/main" id="{3BEE92BF-EDF0-43AD-84EB-6B78097D0AE5}"/>
              </a:ext>
            </a:extLst>
          </p:cNvPr>
          <p:cNvGrpSpPr/>
          <p:nvPr/>
        </p:nvGrpSpPr>
        <p:grpSpPr>
          <a:xfrm>
            <a:off x="700392" y="4809204"/>
            <a:ext cx="1799684" cy="520496"/>
            <a:chOff x="4990288" y="1782720"/>
            <a:chExt cx="1799684" cy="520496"/>
          </a:xfrm>
        </p:grpSpPr>
        <p:pic>
          <p:nvPicPr>
            <p:cNvPr id="16" name="Picture 15">
              <a:extLst>
                <a:ext uri="{FF2B5EF4-FFF2-40B4-BE49-F238E27FC236}">
                  <a16:creationId xmlns:a16="http://schemas.microsoft.com/office/drawing/2014/main" id="{805499F1-5CF7-482E-9CC3-85D032E64813}"/>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7" name="TextBox 16">
              <a:extLst>
                <a:ext uri="{FF2B5EF4-FFF2-40B4-BE49-F238E27FC236}">
                  <a16:creationId xmlns:a16="http://schemas.microsoft.com/office/drawing/2014/main" id="{F3DBDAF9-3B3E-479B-8CE3-C15C29F0998F}"/>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1" name="Google Shape;257;g21197e7cf6e_0_97">
            <a:extLst>
              <a:ext uri="{FF2B5EF4-FFF2-40B4-BE49-F238E27FC236}">
                <a16:creationId xmlns:a16="http://schemas.microsoft.com/office/drawing/2014/main" id="{2449E120-C251-406B-9222-741B21FC9E12}"/>
              </a:ext>
            </a:extLst>
          </p:cNvPr>
          <p:cNvSpPr txBox="1">
            <a:spLocks/>
          </p:cNvSpPr>
          <p:nvPr/>
        </p:nvSpPr>
        <p:spPr>
          <a:xfrm>
            <a:off x="291102" y="361419"/>
            <a:ext cx="89599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and Bottom 10 Customers by Revenue</a:t>
            </a:r>
          </a:p>
        </p:txBody>
      </p:sp>
    </p:spTree>
    <p:extLst>
      <p:ext uri="{BB962C8B-B14F-4D97-AF65-F5344CB8AC3E}">
        <p14:creationId xmlns:p14="http://schemas.microsoft.com/office/powerpoint/2010/main" val="931720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623700" y="2582579"/>
            <a:ext cx="5428870" cy="2570446"/>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Those Uniform 35–40 % margins confirm strong, consistent pricing and cost control.</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&gt;$10 M clients with &lt;36 % margins reveal discounting hotspots—re evaluate large‑account terms.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$6–9 M clients with &gt;40 % margins are high‑value candidates for targeted upsell.</a:t>
            </a:r>
            <a:endParaRPr lang="en-GB"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FE61AE86-902E-4FC1-B17C-07D7F22741FE}"/>
              </a:ext>
            </a:extLst>
          </p:cNvPr>
          <p:cNvPicPr>
            <a:picLocks noChangeAspect="1"/>
          </p:cNvPicPr>
          <p:nvPr/>
        </p:nvPicPr>
        <p:blipFill>
          <a:blip r:embed="rId3"/>
          <a:srcRect/>
          <a:stretch/>
        </p:blipFill>
        <p:spPr>
          <a:xfrm>
            <a:off x="351173" y="1606883"/>
            <a:ext cx="6017105" cy="4107732"/>
          </a:xfrm>
          <a:prstGeom prst="rect">
            <a:avLst/>
          </a:prstGeom>
        </p:spPr>
      </p:pic>
      <p:grpSp>
        <p:nvGrpSpPr>
          <p:cNvPr id="10" name="Group 9">
            <a:extLst>
              <a:ext uri="{FF2B5EF4-FFF2-40B4-BE49-F238E27FC236}">
                <a16:creationId xmlns:a16="http://schemas.microsoft.com/office/drawing/2014/main" id="{0424FEB4-C23A-4F5C-94D6-30B974864E0F}"/>
              </a:ext>
            </a:extLst>
          </p:cNvPr>
          <p:cNvGrpSpPr/>
          <p:nvPr/>
        </p:nvGrpSpPr>
        <p:grpSpPr>
          <a:xfrm>
            <a:off x="6524448" y="1904839"/>
            <a:ext cx="1799684" cy="520496"/>
            <a:chOff x="4990288" y="1782720"/>
            <a:chExt cx="1799684" cy="520496"/>
          </a:xfrm>
        </p:grpSpPr>
        <p:pic>
          <p:nvPicPr>
            <p:cNvPr id="11" name="Picture 10">
              <a:extLst>
                <a:ext uri="{FF2B5EF4-FFF2-40B4-BE49-F238E27FC236}">
                  <a16:creationId xmlns:a16="http://schemas.microsoft.com/office/drawing/2014/main" id="{9138E342-C826-4674-9A13-CE9AC70D120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96A52B8-5099-4B1B-83C9-3818EE103ED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Rectangle 12">
            <a:extLst>
              <a:ext uri="{FF2B5EF4-FFF2-40B4-BE49-F238E27FC236}">
                <a16:creationId xmlns:a16="http://schemas.microsoft.com/office/drawing/2014/main" id="{EC5A6E02-D1B8-42AC-A6A9-D169FAEE931F}"/>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Google Shape;257;g21197e7cf6e_0_97">
            <a:extLst>
              <a:ext uri="{FF2B5EF4-FFF2-40B4-BE49-F238E27FC236}">
                <a16:creationId xmlns:a16="http://schemas.microsoft.com/office/drawing/2014/main" id="{EC3F2E8A-CC3A-44EC-BB95-D0A91F6B51B8}"/>
              </a:ext>
            </a:extLst>
          </p:cNvPr>
          <p:cNvSpPr txBox="1">
            <a:spLocks/>
          </p:cNvSpPr>
          <p:nvPr/>
        </p:nvSpPr>
        <p:spPr>
          <a:xfrm>
            <a:off x="291102" y="361419"/>
            <a:ext cx="10360685"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Customer Segmentation: Revenue vs. Profit Margin</a:t>
            </a:r>
          </a:p>
        </p:txBody>
      </p:sp>
    </p:spTree>
    <p:extLst>
      <p:ext uri="{BB962C8B-B14F-4D97-AF65-F5344CB8AC3E}">
        <p14:creationId xmlns:p14="http://schemas.microsoft.com/office/powerpoint/2010/main" val="550205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371616" y="2271057"/>
            <a:ext cx="5680953" cy="3701118"/>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Unit price is the primary driver, showing very strong correlations with cost (0.94), revenue (0.91) and profit (0.79).</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profit maintain a high link (0.87), underscoring direct profitability gains.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Quantity’s impact is minimal (≤ 0.34 vs. financials), indicating volume plays a secondary role.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Cost vs. profit correlation (0.58) is moderate, suggesting margin improvement focus should center on pricing.</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248D07D7-4FC1-4A7A-B1B8-B1F2DA259A87}"/>
              </a:ext>
            </a:extLst>
          </p:cNvPr>
          <p:cNvPicPr>
            <a:picLocks noChangeAspect="1"/>
          </p:cNvPicPr>
          <p:nvPr/>
        </p:nvPicPr>
        <p:blipFill>
          <a:blip r:embed="rId3"/>
          <a:srcRect/>
          <a:stretch/>
        </p:blipFill>
        <p:spPr>
          <a:xfrm>
            <a:off x="351173" y="1954510"/>
            <a:ext cx="5620905" cy="3834600"/>
          </a:xfrm>
          <a:prstGeom prst="rect">
            <a:avLst/>
          </a:prstGeom>
        </p:spPr>
      </p:pic>
      <p:grpSp>
        <p:nvGrpSpPr>
          <p:cNvPr id="10" name="Group 9">
            <a:extLst>
              <a:ext uri="{FF2B5EF4-FFF2-40B4-BE49-F238E27FC236}">
                <a16:creationId xmlns:a16="http://schemas.microsoft.com/office/drawing/2014/main" id="{870D0C5A-2E0A-43BA-9EB1-CACEBF500ACA}"/>
              </a:ext>
            </a:extLst>
          </p:cNvPr>
          <p:cNvGrpSpPr/>
          <p:nvPr/>
        </p:nvGrpSpPr>
        <p:grpSpPr>
          <a:xfrm>
            <a:off x="6219924" y="1750561"/>
            <a:ext cx="1799684" cy="520496"/>
            <a:chOff x="4990288" y="1782720"/>
            <a:chExt cx="1799684" cy="520496"/>
          </a:xfrm>
        </p:grpSpPr>
        <p:pic>
          <p:nvPicPr>
            <p:cNvPr id="11" name="Picture 10">
              <a:extLst>
                <a:ext uri="{FF2B5EF4-FFF2-40B4-BE49-F238E27FC236}">
                  <a16:creationId xmlns:a16="http://schemas.microsoft.com/office/drawing/2014/main" id="{C04FD692-7C1E-426B-A1A9-D42082D36522}"/>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38E0E32-AD2E-402F-B026-4576898C411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Rectangle 5">
            <a:extLst>
              <a:ext uri="{FF2B5EF4-FFF2-40B4-BE49-F238E27FC236}">
                <a16:creationId xmlns:a16="http://schemas.microsoft.com/office/drawing/2014/main" id="{D8594DA7-4735-457A-AD22-C8533C973609}"/>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oogle Shape;257;g21197e7cf6e_0_97">
            <a:extLst>
              <a:ext uri="{FF2B5EF4-FFF2-40B4-BE49-F238E27FC236}">
                <a16:creationId xmlns:a16="http://schemas.microsoft.com/office/drawing/2014/main" id="{930A99F3-207D-43B4-9CC7-150443490A66}"/>
              </a:ext>
            </a:extLst>
          </p:cNvPr>
          <p:cNvSpPr txBox="1">
            <a:spLocks/>
          </p:cNvSpPr>
          <p:nvPr/>
        </p:nvSpPr>
        <p:spPr>
          <a:xfrm>
            <a:off x="291102" y="361419"/>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Correlation Heatmap of Numeric Features</a:t>
            </a:r>
          </a:p>
        </p:txBody>
      </p:sp>
    </p:spTree>
    <p:extLst>
      <p:ext uri="{BB962C8B-B14F-4D97-AF65-F5344CB8AC3E}">
        <p14:creationId xmlns:p14="http://schemas.microsoft.com/office/powerpoint/2010/main" val="176992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Key Insights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4" name="TextBox 3">
            <a:extLst>
              <a:ext uri="{FF2B5EF4-FFF2-40B4-BE49-F238E27FC236}">
                <a16:creationId xmlns:a16="http://schemas.microsoft.com/office/drawing/2014/main" id="{57FF0907-75F7-4D14-9B2A-616F6EC8DD1E}"/>
              </a:ext>
            </a:extLst>
          </p:cNvPr>
          <p:cNvSpPr txBox="1"/>
          <p:nvPr/>
        </p:nvSpPr>
        <p:spPr>
          <a:xfrm>
            <a:off x="761819" y="1891715"/>
            <a:ext cx="11084560" cy="3139321"/>
          </a:xfrm>
          <a:prstGeom prst="rect">
            <a:avLst/>
          </a:prstGeom>
          <a:noFill/>
        </p:spPr>
        <p:txBody>
          <a:bodyPr wrap="square" rtlCol="0">
            <a:spAutoFit/>
          </a:bodyPr>
          <a:lstStyle/>
          <a:p>
            <a:r>
              <a:rPr lang="en-GB" sz="1800" dirty="0">
                <a:effectLst/>
                <a:latin typeface="Poppins" panose="020B0604020202020204" charset="0"/>
                <a:cs typeface="Poppins" panose="020B0604020202020204" charset="0"/>
              </a:rPr>
              <a:t>Pronounced Seasonality: January revenues average $124 M, dipping to $95 M in April.</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Concentration: Products 26 &amp; 25 together drive ~25 % of total sales.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Trade‑Off: Wholesale captures 54 % of volume; Export leads with ~</a:t>
            </a:r>
            <a:r>
              <a:rPr lang="en-GB" sz="1800" dirty="0">
                <a:latin typeface="Poppins" panose="020B0604020202020204" charset="0"/>
                <a:cs typeface="Poppins" panose="020B0604020202020204" charset="0"/>
              </a:rPr>
              <a:t>38</a:t>
            </a:r>
            <a:r>
              <a:rPr lang="en-GB" sz="1800" dirty="0">
                <a:effectLst/>
                <a:latin typeface="Poppins" panose="020B0604020202020204" charset="0"/>
                <a:cs typeface="Poppins" panose="020B0604020202020204" charset="0"/>
              </a:rPr>
              <a:t> % average margin.</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Geographic Dominance: California alone logs 7.6K orders ($230 M); the West region shows the largest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Aibox Company and State Ltd are the most valuable customers in terms of Revenue.</a:t>
            </a:r>
            <a:endParaRPr lang="en-IN" sz="1800" dirty="0">
              <a:latin typeface="Poppins" panose="020B0604020202020204" charset="0"/>
              <a:cs typeface="Poppins" panose="020B0604020202020204" charset="0"/>
            </a:endParaRPr>
          </a:p>
        </p:txBody>
      </p:sp>
      <p:sp>
        <p:nvSpPr>
          <p:cNvPr id="14" name="Oval 13">
            <a:extLst>
              <a:ext uri="{FF2B5EF4-FFF2-40B4-BE49-F238E27FC236}">
                <a16:creationId xmlns:a16="http://schemas.microsoft.com/office/drawing/2014/main" id="{353109F4-10B3-441A-97F7-381BC24E7883}"/>
              </a:ext>
            </a:extLst>
          </p:cNvPr>
          <p:cNvSpPr/>
          <p:nvPr/>
        </p:nvSpPr>
        <p:spPr>
          <a:xfrm>
            <a:off x="527390" y="475911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64E0663E-C064-41DE-A025-E5D03F06F96E}"/>
              </a:ext>
            </a:extLst>
          </p:cNvPr>
          <p:cNvSpPr/>
          <p:nvPr/>
        </p:nvSpPr>
        <p:spPr>
          <a:xfrm>
            <a:off x="512525" y="3941560"/>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498EDB6-D906-4919-84C8-05A8BFB0C35F}"/>
              </a:ext>
            </a:extLst>
          </p:cNvPr>
          <p:cNvSpPr/>
          <p:nvPr/>
        </p:nvSpPr>
        <p:spPr>
          <a:xfrm>
            <a:off x="527771" y="312400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A1858F85-53B7-46EF-A995-0E1C7217880C}"/>
              </a:ext>
            </a:extLst>
          </p:cNvPr>
          <p:cNvSpPr/>
          <p:nvPr/>
        </p:nvSpPr>
        <p:spPr>
          <a:xfrm>
            <a:off x="527390" y="199649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548245C-3A20-459A-92C5-AF9BAE8FAC8A}"/>
              </a:ext>
            </a:extLst>
          </p:cNvPr>
          <p:cNvSpPr/>
          <p:nvPr/>
        </p:nvSpPr>
        <p:spPr>
          <a:xfrm>
            <a:off x="527390" y="2547301"/>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2890132-0527-4A5E-83E8-2C03B1F118FF}"/>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Recommendat</a:t>
            </a:r>
            <a:r>
              <a:rPr lang="en-US" sz="2800" b="1" dirty="0">
                <a:solidFill>
                  <a:srgbClr val="FFFFFF"/>
                </a:solidFill>
                <a:latin typeface="Poppins"/>
                <a:ea typeface="Poppins"/>
                <a:cs typeface="Poppins"/>
                <a:sym typeface="Poppins"/>
              </a:rPr>
              <a:t>ions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14792"/>
            <a:ext cx="11303283" cy="3970318"/>
          </a:xfrm>
          <a:prstGeom prst="rect">
            <a:avLst/>
          </a:prstGeom>
          <a:noFill/>
        </p:spPr>
        <p:txBody>
          <a:bodyPr wrap="square">
            <a:spAutoFit/>
          </a:bodyPr>
          <a:lstStyle/>
          <a:p>
            <a:r>
              <a:rPr lang="en-GB" sz="1800" dirty="0">
                <a:effectLst/>
                <a:latin typeface="Poppins" panose="020B0604020202020204" charset="0"/>
                <a:cs typeface="Poppins" panose="020B0604020202020204" charset="0"/>
              </a:rPr>
              <a:t>Seasonal Promotions: Launch recovery campaigns in April and amplify January offers to smooth revenue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Optimization: Double down on top products 26 &amp; 25 and re-evaluate pricing or phase out low‑margin SKUs.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Expansion: Incentivize Export partnerships for high margins and introduce volume deals in Wholesale.</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Regional Investment: Replicate California’s success in other regions and boost marketing in the Northeast &amp; Midwest.</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Margin Monitoring: Flag orders below 80 % margin and analyse cost drivers to uplift underperforming segments.</a:t>
            </a:r>
            <a:endParaRPr lang="en-IN" sz="18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77055" y="175265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1400" y="255021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77055" y="336338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38A4CC3-DB46-44AD-BB29-BD6BA46686DB}"/>
              </a:ext>
            </a:extLst>
          </p:cNvPr>
          <p:cNvSpPr/>
          <p:nvPr/>
        </p:nvSpPr>
        <p:spPr>
          <a:xfrm>
            <a:off x="477055" y="419510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F82211C-C064-4556-A886-C9550795DB0D}"/>
              </a:ext>
            </a:extLst>
          </p:cNvPr>
          <p:cNvSpPr/>
          <p:nvPr/>
        </p:nvSpPr>
        <p:spPr>
          <a:xfrm>
            <a:off x="475272" y="502682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id="{83D71369-AFB0-40E1-B98D-52352B364C5E}"/>
              </a:ext>
            </a:extLst>
          </p:cNvPr>
          <p:cNvSpPr txBox="1"/>
          <p:nvPr/>
        </p:nvSpPr>
        <p:spPr>
          <a:xfrm>
            <a:off x="3336173" y="335567"/>
            <a:ext cx="44552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Recommendations</a:t>
            </a:r>
            <a:endParaRPr lang="en-IN" sz="3200" dirty="0"/>
          </a:p>
        </p:txBody>
      </p:sp>
    </p:spTree>
    <p:extLst>
      <p:ext uri="{BB962C8B-B14F-4D97-AF65-F5344CB8AC3E}">
        <p14:creationId xmlns:p14="http://schemas.microsoft.com/office/powerpoint/2010/main" val="2845123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Dashboard Preview</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457610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616138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1 -  Performance Summary</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5AF4232A-DB3B-44C6-8A2D-63B014D479C8}"/>
              </a:ext>
            </a:extLst>
          </p:cNvPr>
          <p:cNvPicPr>
            <a:picLocks/>
          </p:cNvPicPr>
          <p:nvPr/>
        </p:nvPicPr>
        <p:blipFill rotWithShape="1">
          <a:blip r:embed="rId5"/>
          <a:srcRect l="-10" t="20" r="-124" b="64"/>
          <a:stretch/>
        </p:blipFill>
        <p:spPr>
          <a:xfrm>
            <a:off x="1197033" y="964276"/>
            <a:ext cx="10241280" cy="5755124"/>
          </a:xfrm>
          <a:prstGeom prst="rect">
            <a:avLst/>
          </a:prstGeom>
        </p:spPr>
      </p:pic>
    </p:spTree>
    <p:extLst>
      <p:ext uri="{BB962C8B-B14F-4D97-AF65-F5344CB8AC3E}">
        <p14:creationId xmlns:p14="http://schemas.microsoft.com/office/powerpoint/2010/main" val="2738212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947354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2 -  Customer Segmentation</a:t>
            </a:r>
            <a:endParaRPr dirty="0">
              <a:solidFill>
                <a:schemeClr val="tx1">
                  <a:lumMod val="75000"/>
                  <a:lumOff val="25000"/>
                </a:schemeClr>
              </a:solidFill>
            </a:endParaRPr>
          </a:p>
        </p:txBody>
      </p:sp>
      <p:pic>
        <p:nvPicPr>
          <p:cNvPr id="9" name="Picture 8">
            <a:extLst>
              <a:ext uri="{FF2B5EF4-FFF2-40B4-BE49-F238E27FC236}">
                <a16:creationId xmlns:a16="http://schemas.microsoft.com/office/drawing/2014/main" id="{CDBB21B6-3539-4ED1-A07C-385D84DD4CDE}"/>
              </a:ext>
            </a:extLst>
          </p:cNvPr>
          <p:cNvPicPr>
            <a:picLocks/>
          </p:cNvPicPr>
          <p:nvPr/>
        </p:nvPicPr>
        <p:blipFill>
          <a:blip r:embed="rId5"/>
          <a:srcRect t="109" b="109"/>
          <a:stretch/>
        </p:blipFill>
        <p:spPr>
          <a:xfrm>
            <a:off x="1197033" y="964276"/>
            <a:ext cx="10241280" cy="5755124"/>
          </a:xfrm>
          <a:prstGeom prst="rect">
            <a:avLst/>
          </a:prstGeom>
        </p:spPr>
      </p:pic>
    </p:spTree>
    <p:extLst>
      <p:ext uri="{BB962C8B-B14F-4D97-AF65-F5344CB8AC3E}">
        <p14:creationId xmlns:p14="http://schemas.microsoft.com/office/powerpoint/2010/main" val="1670158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4" y="323677"/>
            <a:ext cx="5527432"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3 -  </a:t>
            </a:r>
            <a:r>
              <a:rPr lang="en-IN" dirty="0">
                <a:solidFill>
                  <a:schemeClr val="tx1">
                    <a:lumMod val="75000"/>
                    <a:lumOff val="25000"/>
                  </a:schemeClr>
                </a:solidFill>
              </a:rPr>
              <a:t>Revenue Scenarios</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A0672594-588D-47F4-96CB-2CCC0D5915D1}"/>
              </a:ext>
            </a:extLst>
          </p:cNvPr>
          <p:cNvPicPr>
            <a:picLocks/>
          </p:cNvPicPr>
          <p:nvPr/>
        </p:nvPicPr>
        <p:blipFill rotWithShape="1">
          <a:blip r:embed="rId5"/>
          <a:srcRect l="-10" t="-10" r="-124" b="94"/>
          <a:stretch/>
        </p:blipFill>
        <p:spPr>
          <a:xfrm>
            <a:off x="1197033" y="964276"/>
            <a:ext cx="10241280" cy="5755124"/>
          </a:xfrm>
          <a:prstGeom prst="rect">
            <a:avLst/>
          </a:prstGeom>
        </p:spPr>
      </p:pic>
    </p:spTree>
    <p:extLst>
      <p:ext uri="{BB962C8B-B14F-4D97-AF65-F5344CB8AC3E}">
        <p14:creationId xmlns:p14="http://schemas.microsoft.com/office/powerpoint/2010/main" val="1810527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g215a699482b_0_554"/>
          <p:cNvPicPr preferRelativeResize="0"/>
          <p:nvPr/>
        </p:nvPicPr>
        <p:blipFill rotWithShape="1">
          <a:blip r:embed="rId3">
            <a:alphaModFix/>
          </a:blip>
          <a:srcRect t="7834" b="7834"/>
          <a:stretch/>
        </p:blipFill>
        <p:spPr>
          <a:xfrm>
            <a:off x="0" y="0"/>
            <a:ext cx="12192000" cy="6858001"/>
          </a:xfrm>
          <a:prstGeom prst="rect">
            <a:avLst/>
          </a:prstGeom>
          <a:noFill/>
          <a:ln>
            <a:noFill/>
          </a:ln>
        </p:spPr>
      </p:pic>
      <p:sp>
        <p:nvSpPr>
          <p:cNvPr id="430" name="Google Shape;430;g215a699482b_0_55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431" name="Google Shape;431;g215a699482b_0_55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2" name="Google Shape;432;g215a699482b_0_55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33" name="Google Shape;433;g215a699482b_0_554"/>
          <p:cNvSpPr/>
          <p:nvPr/>
        </p:nvSpPr>
        <p:spPr>
          <a:xfrm>
            <a:off x="0" y="2547468"/>
            <a:ext cx="7222500" cy="2325600"/>
          </a:xfrm>
          <a:prstGeom prst="rect">
            <a:avLst/>
          </a:prstGeom>
          <a:solidFill>
            <a:schemeClr val="accent4">
              <a:alpha val="8392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4" name="Google Shape;434;g215a699482b_0_554"/>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Conclusion</a:t>
            </a:r>
            <a:endParaRPr sz="2800" b="0" i="0" u="none" strike="noStrike" cap="none" dirty="0">
              <a:solidFill>
                <a:srgbClr val="FFFFFF"/>
              </a:solidFill>
              <a:latin typeface="Poppins"/>
              <a:ea typeface="Poppins"/>
              <a:cs typeface="Poppins"/>
              <a:sym typeface="Poppins"/>
            </a:endParaRPr>
          </a:p>
        </p:txBody>
      </p:sp>
      <p:pic>
        <p:nvPicPr>
          <p:cNvPr id="435" name="Google Shape;435;g215a699482b_0_55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97842"/>
            <a:ext cx="11303283" cy="2554545"/>
          </a:xfrm>
          <a:prstGeom prst="rect">
            <a:avLst/>
          </a:prstGeom>
          <a:noFill/>
        </p:spPr>
        <p:txBody>
          <a:bodyPr wrap="square">
            <a:spAutoFit/>
          </a:bodyPr>
          <a:lstStyle/>
          <a:p>
            <a:r>
              <a:rPr lang="en-GB" sz="2000" dirty="0">
                <a:effectLst/>
                <a:latin typeface="Poppins" panose="020B0604020202020204" charset="0"/>
                <a:cs typeface="Poppins" panose="020B0604020202020204" charset="0"/>
              </a:rPr>
              <a:t>Completed end‑to‑end EDA and interactive Power BI dashboard, surfacing seasonality, SKU, channel &amp; regional insights.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Insights inform sales policies and operational planning (store &amp; warehouse prep aligned with annual trends).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Stakeholders can self‑serve real‑time analysis and confidently onboard new datasets for additional use cases.</a:t>
            </a:r>
            <a:endParaRPr lang="en-IN" sz="20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85129" y="182109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5129" y="2728304"/>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85129" y="3635513"/>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tretch>
            <a:fillRect/>
          </a:stretch>
        </p:blipFill>
        <p:spPr>
          <a:xfrm>
            <a:off x="6638926" y="372008"/>
            <a:ext cx="427972" cy="427972"/>
          </a:xfrm>
          <a:prstGeom prst="rect">
            <a:avLst/>
          </a:prstGeom>
        </p:spPr>
      </p:pic>
      <p:sp>
        <p:nvSpPr>
          <p:cNvPr id="16" name="TextBox 15">
            <a:extLst>
              <a:ext uri="{FF2B5EF4-FFF2-40B4-BE49-F238E27FC236}">
                <a16:creationId xmlns:a16="http://schemas.microsoft.com/office/drawing/2014/main" id="{949A4F80-588E-41BA-A9AE-5B43AC3CC4D8}"/>
              </a:ext>
            </a:extLst>
          </p:cNvPr>
          <p:cNvSpPr txBox="1"/>
          <p:nvPr/>
        </p:nvSpPr>
        <p:spPr>
          <a:xfrm>
            <a:off x="3802898" y="312933"/>
            <a:ext cx="29693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Conclusions</a:t>
            </a:r>
            <a:endParaRPr lang="en-IN" sz="3200" dirty="0"/>
          </a:p>
        </p:txBody>
      </p:sp>
    </p:spTree>
    <p:extLst>
      <p:ext uri="{BB962C8B-B14F-4D97-AF65-F5344CB8AC3E}">
        <p14:creationId xmlns:p14="http://schemas.microsoft.com/office/powerpoint/2010/main" val="4041496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EF86CAF-AF8E-4B21-8106-07E3225F85F6}"/>
              </a:ext>
            </a:extLst>
          </p:cNvPr>
          <p:cNvSpPr txBox="1"/>
          <p:nvPr/>
        </p:nvSpPr>
        <p:spPr>
          <a:xfrm>
            <a:off x="3940497" y="1800953"/>
            <a:ext cx="4486104" cy="1015663"/>
          </a:xfrm>
          <a:prstGeom prst="rect">
            <a:avLst/>
          </a:prstGeom>
          <a:noFill/>
        </p:spPr>
        <p:txBody>
          <a:bodyPr wrap="square">
            <a:spAutoFit/>
          </a:bodyPr>
          <a:lstStyle/>
          <a:p>
            <a:r>
              <a:rPr lang="en-IN" sz="6000" b="1" dirty="0">
                <a:solidFill>
                  <a:srgbClr val="000000">
                    <a:lumMod val="65000"/>
                    <a:lumOff val="35000"/>
                  </a:srgbClr>
                </a:solidFill>
                <a:latin typeface="Comic Sans MS" panose="030F0702030302020204" pitchFamily="66" charset="0"/>
                <a:cs typeface="Poppins"/>
                <a:sym typeface="Poppins"/>
              </a:rPr>
              <a:t>T</a:t>
            </a:r>
            <a:r>
              <a:rPr kumimoji="0" lang="en-IN" sz="6000" b="1" i="0" u="none" strike="noStrike" kern="0" cap="none" spc="0" normalizeH="0" baseline="0" noProof="0" dirty="0">
                <a:ln>
                  <a:noFill/>
                </a:ln>
                <a:solidFill>
                  <a:srgbClr val="000000">
                    <a:lumMod val="65000"/>
                    <a:lumOff val="35000"/>
                  </a:srgbClr>
                </a:solidFill>
                <a:effectLst/>
                <a:uLnTx/>
                <a:uFillTx/>
                <a:latin typeface="Comic Sans MS" panose="030F0702030302020204" pitchFamily="66" charset="0"/>
                <a:cs typeface="Poppins"/>
                <a:sym typeface="Poppins"/>
              </a:rPr>
              <a:t>hank You</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980</TotalTime>
  <Words>1041</Words>
  <Application>Microsoft Office PowerPoint</Application>
  <PresentationFormat>Widescreen</PresentationFormat>
  <Paragraphs>177</Paragraphs>
  <Slides>26</Slides>
  <Notes>26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Comic Sans MS</vt:lpstr>
      <vt:lpstr>Poppins</vt:lpstr>
      <vt:lpstr>Source Sans Pro</vt:lpstr>
      <vt:lpstr>Arial</vt:lpstr>
      <vt:lpstr>Calibri</vt:lpstr>
      <vt:lpstr>1_Office Theme</vt:lpstr>
      <vt:lpstr>1_Office Theme</vt:lpstr>
      <vt:lpstr>PowerPoint Presentation</vt:lpstr>
      <vt:lpstr>Agenda</vt:lpstr>
      <vt:lpstr>PowerPoint Presentation</vt:lpstr>
      <vt:lpstr> </vt:lpstr>
      <vt:lpstr>Monthly Sales Trend Over Time</vt:lpstr>
      <vt:lpstr>Top 10 Products by Revenue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 </vt:lpstr>
      <vt:lpstr>Page 1 -  Performance Summary</vt:lpstr>
      <vt:lpstr>Page 2 -  Customer Segmentation</vt:lpstr>
      <vt:lpstr>Page 3 -  Revenue Scenarios</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 Sadhukhan</dc:creator>
  <cp:lastModifiedBy>kirthi mahajan</cp:lastModifiedBy>
  <cp:revision>56</cp:revision>
  <dcterms:created xsi:type="dcterms:W3CDTF">2022-09-23T13:48:30Z</dcterms:created>
  <dcterms:modified xsi:type="dcterms:W3CDTF">2026-07-16T15:18:39Z</dcterms:modified>
</cp:coreProperties>
</file>